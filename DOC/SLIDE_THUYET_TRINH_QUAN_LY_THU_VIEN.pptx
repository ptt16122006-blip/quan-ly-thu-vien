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_title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1277295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01. CÔNG NGHỆ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FAFC"/>
                </a:solidFill>
              </a:defRPr>
            </a:pPr>
            <a:r>
              <a:t>TỔNG QUAN &amp; CÔNG NGHỆ CỐT LÕI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8BDF8"/>
                </a:solidFill>
              </a:defRPr>
            </a:pPr>
            <a:r>
              <a:t>Kiến trúc đa tầng phục vụ quản lý thư viện số hóa toàn diện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4389120" cy="4892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4023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2D3EE"/>
                </a:solidFill>
              </a:defRPr>
            </a:pPr>
            <a:r>
              <a:t>TRỌNG TÂM CỐT LÕI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4023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150">
                <a:solidFill>
                  <a:srgbClr val="38BDF8"/>
                </a:solidFill>
              </a:rPr>
              <a:t>• FastAPI Microservice:</a:t>
            </a:r>
            <a:r>
              <a:rPr sz="1100">
                <a:solidFill>
                  <a:srgbClr val="F8FAFC"/>
                </a:solidFill>
              </a:rPr>
              <a:t> Backend xử lý nhanh, phi đồng bộ, chuẩn RESTful.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150">
                <a:solidFill>
                  <a:srgbClr val="38BDF8"/>
                </a:solidFill>
              </a:rPr>
              <a:t>• PostgreSQL 16:</a:t>
            </a:r>
            <a:r>
              <a:rPr sz="1100">
                <a:solidFill>
                  <a:srgbClr val="F8FAFC"/>
                </a:solidFill>
              </a:rPr>
              <a:t> Cơ sở dữ liệu quan hệ mạnh mẽ, ACID, bảo vệ toàn vẹn.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150">
                <a:solidFill>
                  <a:srgbClr val="38BDF8"/>
                </a:solidFill>
              </a:rPr>
              <a:t>• Nginx Ingress:</a:t>
            </a:r>
            <a:r>
              <a:rPr sz="1100">
                <a:solidFill>
                  <a:srgbClr val="F8FAFC"/>
                </a:solidFill>
              </a:rPr>
              <a:t> Cổng tiếp nhận lưu lượng, cân bằng tải và điều hướng.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150">
                <a:solidFill>
                  <a:srgbClr val="38BDF8"/>
                </a:solidFill>
              </a:rPr>
              <a:t>• Full Observability:</a:t>
            </a:r>
            <a:r>
              <a:rPr sz="1100">
                <a:solidFill>
                  <a:srgbClr val="F8FAFC"/>
                </a:solidFill>
              </a:rPr>
              <a:t> Bộ đôi Prometheus thu thập metrics &amp; Loki ghi nhận log.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1508760"/>
            <a:ext cx="6522415" cy="4892040"/>
          </a:xfrm>
          <a:prstGeom prst="rect">
            <a:avLst/>
          </a:prstGeom>
          <a:solidFill>
            <a:srgbClr val="0A101E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lide_tech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600200"/>
            <a:ext cx="6339535" cy="47091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02. KIẾN TRÚC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FAFC"/>
                </a:solidFill>
              </a:defRPr>
            </a:pPr>
            <a:r>
              <a:t>KIẾN TRÚC HỆ THỐNG PHÂN TẦNG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8BDF8"/>
                </a:solidFill>
              </a:defRPr>
            </a:pPr>
            <a:r>
              <a:t>Topology 8 dịch vụ độc lập phân chia rõ ràng theo từng phân hệ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4389120" cy="4892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4023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2D3EE"/>
                </a:solidFill>
              </a:defRPr>
            </a:pPr>
            <a:r>
              <a:t>TRỌNG TÂM CỐT LÕI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4023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150">
                <a:solidFill>
                  <a:srgbClr val="38BDF8"/>
                </a:solidFill>
              </a:rPr>
              <a:t>• Phân tầng Web &amp; API:</a:t>
            </a:r>
            <a:r>
              <a:rPr sz="1100">
                <a:solidFill>
                  <a:srgbClr val="F8FAFC"/>
                </a:solidFill>
              </a:rPr>
              <a:t> Nginx bảo vệ phía trước kết nối tới FastAPI Backend.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150">
                <a:solidFill>
                  <a:srgbClr val="38BDF8"/>
                </a:solidFill>
              </a:rPr>
              <a:t>• Phân tầng Dữ liệu:</a:t>
            </a:r>
            <a:r>
              <a:rPr sz="1100">
                <a:solidFill>
                  <a:srgbClr val="F8FAFC"/>
                </a:solidFill>
              </a:rPr>
              <a:t> PostgreSQL 16 và công cụ quản trị pgAdmin chuyên nghiệp.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150">
                <a:solidFill>
                  <a:srgbClr val="38BDF8"/>
                </a:solidFill>
              </a:rPr>
              <a:t>• Phân tầng Giám sát:</a:t>
            </a:r>
            <a:r>
              <a:rPr sz="1100">
                <a:solidFill>
                  <a:srgbClr val="F8FAFC"/>
                </a:solidFill>
              </a:rPr>
              <a:t> Prometheus lưu metrics thời gian thực &amp; Grafana biểu đồ.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150">
                <a:solidFill>
                  <a:srgbClr val="38BDF8"/>
                </a:solidFill>
              </a:rPr>
              <a:t>• Phân tầng Thu thập Nhật ký:</a:t>
            </a:r>
            <a:r>
              <a:rPr sz="1100">
                <a:solidFill>
                  <a:srgbClr val="F8FAFC"/>
                </a:solidFill>
              </a:rPr>
              <a:t> Promtail gom log container và chuyển tiếp Loki.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1508760"/>
            <a:ext cx="6522415" cy="4892040"/>
          </a:xfrm>
          <a:prstGeom prst="rect">
            <a:avLst/>
          </a:prstGeom>
          <a:solidFill>
            <a:srgbClr val="0A101E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hinh_3_1_kien_truc_he_tho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600200"/>
            <a:ext cx="6339535" cy="47091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03. BẢO MẬT MẠNG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FAFC"/>
                </a:solidFill>
              </a:defRPr>
            </a:pPr>
            <a:r>
              <a:t>CƠ CHẾ CÔ LẬP MẠNG AN TOÀN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8BDF8"/>
                </a:solidFill>
              </a:defRPr>
            </a:pPr>
            <a:r>
              <a:t>Nguyên tắc Least Exposure và phân vùng 3 mạng Docker bridge riêng biệt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4389120" cy="4892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4023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2D3EE"/>
                </a:solidFill>
              </a:defRPr>
            </a:pPr>
            <a:r>
              <a:t>TRỌNG TÂM CỐT LÕI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4023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150">
                <a:solidFill>
                  <a:srgbClr val="38BDF8"/>
                </a:solidFill>
              </a:rPr>
              <a:t>• frontend_network:</a:t>
            </a:r>
            <a:r>
              <a:rPr sz="1100">
                <a:solidFill>
                  <a:srgbClr val="F8FAFC"/>
                </a:solidFill>
              </a:rPr>
              <a:t> Chỉ kết nối Nginx và App, tiếp nhận HTTP/HTTPS ngoài.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150">
                <a:solidFill>
                  <a:srgbClr val="38BDF8"/>
                </a:solidFill>
              </a:rPr>
              <a:t>• backend_network:</a:t>
            </a:r>
            <a:r>
              <a:rPr sz="1100">
                <a:solidFill>
                  <a:srgbClr val="F8FAFC"/>
                </a:solidFill>
              </a:rPr>
              <a:t> Vùng cách ly tuyệt đối cho PostgreSQL, không mở cổng 5432.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150">
                <a:solidFill>
                  <a:srgbClr val="38BDF8"/>
                </a:solidFill>
              </a:rPr>
              <a:t>• monitoring_network:</a:t>
            </a:r>
            <a:r>
              <a:rPr sz="1100">
                <a:solidFill>
                  <a:srgbClr val="F8FAFC"/>
                </a:solidFill>
              </a:rPr>
              <a:t> Đường truyền khép kín cho Prometheus, Loki &amp; Grafana.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100">
                <a:solidFill>
                  <a:srgbClr val="F8FAFC"/>
                </a:solidFill>
              </a:rPr>
              <a:t>• Tuân thủ triệt để nguyên tắc đặc quyền tối thiểu (Least Privilege).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1508760"/>
            <a:ext cx="6522415" cy="4892040"/>
          </a:xfrm>
          <a:prstGeom prst="rect">
            <a:avLst/>
          </a:prstGeom>
          <a:solidFill>
            <a:srgbClr val="0A101E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hinh_3_2_co_che_bao_mat_ma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600200"/>
            <a:ext cx="6339535" cy="47091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04. TRIỂN KHAI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FAFC"/>
                </a:solidFill>
              </a:defRPr>
            </a:pPr>
            <a:r>
              <a:t>QUY TRÌNH KỸ THUẬT 6 BƯỚC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8BDF8"/>
                </a:solidFill>
              </a:defRPr>
            </a:pPr>
            <a:r>
              <a:t>Quy trình triển khai chuẩn DevOps khép kín từ mã nguồn đến vận hành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4389120" cy="4892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4023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2D3EE"/>
                </a:solidFill>
              </a:defRPr>
            </a:pPr>
            <a:r>
              <a:t>TRỌNG TÂM CỐT LÕI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4023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150">
                <a:solidFill>
                  <a:srgbClr val="38BDF8"/>
                </a:solidFill>
              </a:rPr>
              <a:t>• Bước 1 &amp; 2:</a:t>
            </a:r>
            <a:r>
              <a:rPr sz="1100">
                <a:solidFill>
                  <a:srgbClr val="F8FAFC"/>
                </a:solidFill>
              </a:rPr>
              <a:t> Xây dựng App FastAPI, Jinja2 ORM và container hóa PostgreSQL.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150">
                <a:solidFill>
                  <a:srgbClr val="38BDF8"/>
                </a:solidFill>
              </a:rPr>
              <a:t>• Bước 3:</a:t>
            </a:r>
            <a:r>
              <a:rPr sz="1100">
                <a:solidFill>
                  <a:srgbClr val="F8FAFC"/>
                </a:solidFill>
              </a:rPr>
              <a:t> Thiết lập Nginx Reverse Proxy, cấu hình SSL tự động và Headers an ninh.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150">
                <a:solidFill>
                  <a:srgbClr val="38BDF8"/>
                </a:solidFill>
              </a:rPr>
              <a:t>• Bước 4:</a:t>
            </a:r>
            <a:r>
              <a:rPr sz="1100">
                <a:solidFill>
                  <a:srgbClr val="F8FAFC"/>
                </a:solidFill>
              </a:rPr>
              <a:t> Tự động hóa kiểm tra cú pháp và khởi chạy bằng Docker Compose.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150">
                <a:solidFill>
                  <a:srgbClr val="38BDF8"/>
                </a:solidFill>
              </a:rPr>
              <a:t>• Bước 5 &amp; 6:</a:t>
            </a:r>
            <a:r>
              <a:rPr sz="1100">
                <a:solidFill>
                  <a:srgbClr val="F8FAFC"/>
                </a:solidFill>
              </a:rPr>
              <a:t> Tích hợp giám sát chỉ số (Prometheus) và quản lý log tập trung (Loki).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1508760"/>
            <a:ext cx="6522415" cy="4892040"/>
          </a:xfrm>
          <a:prstGeom prst="rect">
            <a:avLst/>
          </a:prstGeom>
          <a:solidFill>
            <a:srgbClr val="0A101E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hinh_4_1_quy_trinh_6_bu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600200"/>
            <a:ext cx="6339535" cy="47091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05. GIAO DIỆN &amp; THỰC NGHIỆM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FAFC"/>
                </a:solidFill>
              </a:defRPr>
            </a:pPr>
            <a:r>
              <a:t>GIAO DIỆN &amp; VẬN HÀNH THỰC TẾ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8BDF8"/>
                </a:solidFill>
              </a:defRPr>
            </a:pPr>
            <a:r>
              <a:t>Trải nghiệm người dùng mượt mà và trực quan hóa nghiệp vụ thư viện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4389120" cy="4892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4023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2D3EE"/>
                </a:solidFill>
              </a:defRPr>
            </a:pPr>
            <a:r>
              <a:t>TRỌNG TÂM CỐT LÕI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4023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150">
                <a:solidFill>
                  <a:srgbClr val="38BDF8"/>
                </a:solidFill>
              </a:rPr>
              <a:t>• Dashboard trực quan:</a:t>
            </a:r>
            <a:r>
              <a:rPr sz="1100">
                <a:solidFill>
                  <a:srgbClr val="F8FAFC"/>
                </a:solidFill>
              </a:rPr>
              <a:t> Thống kê số lượng đầu sách, độc giả, phiếu mượn/trả.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150">
                <a:solidFill>
                  <a:srgbClr val="38BDF8"/>
                </a:solidFill>
              </a:rPr>
              <a:t>• Nghiệp vụ đầy đủ:</a:t>
            </a:r>
            <a:r>
              <a:rPr sz="1100">
                <a:solidFill>
                  <a:srgbClr val="F8FAFC"/>
                </a:solidFill>
              </a:rPr>
              <a:t> Tìm kiếm tức thì, mượn sách, gia hạn và hoàn trả thuận tiện.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150">
                <a:solidFill>
                  <a:srgbClr val="38BDF8"/>
                </a:solidFill>
              </a:rPr>
              <a:t>• Bảo mật kết nối:</a:t>
            </a:r>
            <a:r>
              <a:rPr sz="1100">
                <a:solidFill>
                  <a:srgbClr val="F8FAFC"/>
                </a:solidFill>
              </a:rPr>
              <a:t> Mã hóa HTTPS toàn trình, tự động redirect từ cổng 80 sang 443.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150">
                <a:solidFill>
                  <a:srgbClr val="38BDF8"/>
                </a:solidFill>
              </a:rPr>
              <a:t>• Quản trị CSDL:</a:t>
            </a:r>
            <a:r>
              <a:rPr sz="1100">
                <a:solidFill>
                  <a:srgbClr val="F8FAFC"/>
                </a:solidFill>
              </a:rPr>
              <a:t> Giao diện pgAdmin 4 trực quan hỗ trợ truy vấn và sao lưu.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1508760"/>
            <a:ext cx="6522415" cy="4892040"/>
          </a:xfrm>
          <a:prstGeom prst="rect">
            <a:avLst/>
          </a:prstGeom>
          <a:solidFill>
            <a:srgbClr val="0A101E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hinh_2_1_giao_dien_w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600200"/>
            <a:ext cx="6339535" cy="47091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06. GIÁM SÁT HIỆU NĂNG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FAFC"/>
                </a:solidFill>
              </a:defRPr>
            </a:pPr>
            <a:r>
              <a:t>GIÁM SÁT HIỆU NĂNG VỚI PROMETHEUS &amp; GRAFANA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8BDF8"/>
                </a:solidFill>
              </a:defRPr>
            </a:pPr>
            <a:r>
              <a:t>Theo dõi sát sao sức khỏe hệ thống thời gian thực theo chuỗi thời gian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4389120" cy="4892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4023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2D3EE"/>
                </a:solidFill>
              </a:defRPr>
            </a:pPr>
            <a:r>
              <a:t>TRỌNG TÂM CỐT LÕI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4023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150">
                <a:solidFill>
                  <a:srgbClr val="38BDF8"/>
                </a:solidFill>
              </a:rPr>
              <a:t>• FastAPI Endpoint /metrics:</a:t>
            </a:r>
            <a:r>
              <a:rPr sz="1100">
                <a:solidFill>
                  <a:srgbClr val="F8FAFC"/>
                </a:solidFill>
              </a:rPr>
              <a:t> Xuất chỉ số request latency, throughput, mã lỗi.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150">
                <a:solidFill>
                  <a:srgbClr val="38BDF8"/>
                </a:solidFill>
              </a:rPr>
              <a:t>• Postgres Exporter:</a:t>
            </a:r>
            <a:r>
              <a:rPr sz="1100">
                <a:solidFill>
                  <a:srgbClr val="F8FAFC"/>
                </a:solidFill>
              </a:rPr>
              <a:t> Giám sát số connection, transaction rate, cache hit ratio.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150">
                <a:solidFill>
                  <a:srgbClr val="38BDF8"/>
                </a:solidFill>
              </a:rPr>
              <a:t>• Grafana Dashboard:</a:t>
            </a:r>
            <a:r>
              <a:rPr sz="1100">
                <a:solidFill>
                  <a:srgbClr val="F8FAFC"/>
                </a:solidFill>
              </a:rPr>
              <a:t> Biểu đồ trực quan, phân tích thời gian phản hồi đa chiều.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150">
                <a:solidFill>
                  <a:srgbClr val="38BDF8"/>
                </a:solidFill>
              </a:rPr>
              <a:t>• Cảnh báo tức thì:</a:t>
            </a:r>
            <a:r>
              <a:rPr sz="1100">
                <a:solidFill>
                  <a:srgbClr val="F8FAFC"/>
                </a:solidFill>
              </a:rPr>
              <a:t> Phát hiện sớm tải cao hoặc dấu hiệu bất thường của dịch vụ.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1508760"/>
            <a:ext cx="6522415" cy="4892040"/>
          </a:xfrm>
          <a:prstGeom prst="rect">
            <a:avLst/>
          </a:prstGeom>
          <a:solidFill>
            <a:srgbClr val="0A101E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hinh_5_1_giam_sat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600200"/>
            <a:ext cx="6339535" cy="47091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07. NHẬT KÝ TẬP TRUNG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FAFC"/>
                </a:solidFill>
              </a:defRPr>
            </a:pPr>
            <a:r>
              <a:t>QUẢN LÝ NHẬT KÝ TẬP TRUNG QUA LOKI &amp; PROMTAIL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8BDF8"/>
                </a:solidFill>
              </a:defRPr>
            </a:pPr>
            <a:r>
              <a:t>Tra cứu, phân tích và xử lý sự cố nhanh chóng bằng ngôn ngữ LogQL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4389120" cy="4892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4023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2D3EE"/>
                </a:solidFill>
              </a:defRPr>
            </a:pPr>
            <a:r>
              <a:t>TRỌNG TÂM CỐT LÕI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4023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150">
                <a:solidFill>
                  <a:srgbClr val="38BDF8"/>
                </a:solidFill>
              </a:rPr>
              <a:t>• Promtail Agent:</a:t>
            </a:r>
            <a:r>
              <a:rPr sz="1100">
                <a:solidFill>
                  <a:srgbClr val="F8FAFC"/>
                </a:solidFill>
              </a:rPr>
              <a:t> Tự động đọc và gắn nhãn (labels) nhật ký qua Docker socket.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150">
                <a:solidFill>
                  <a:srgbClr val="38BDF8"/>
                </a:solidFill>
              </a:rPr>
              <a:t>• Loki Server:</a:t>
            </a:r>
            <a:r>
              <a:rPr sz="1100">
                <a:solidFill>
                  <a:srgbClr val="F8FAFC"/>
                </a:solidFill>
              </a:rPr>
              <a:t> Lưu trữ log hiệu năng cao, đánh chỉ mục theo nhãn siêu nhẹ.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150">
                <a:solidFill>
                  <a:srgbClr val="38BDF8"/>
                </a:solidFill>
              </a:rPr>
              <a:t>• Truy vấn LogQL:</a:t>
            </a:r>
            <a:r>
              <a:rPr sz="1100">
                <a:solidFill>
                  <a:srgbClr val="F8FAFC"/>
                </a:solidFill>
              </a:rPr>
              <a:t> Tra cứu nhật ký lỗi (5xx, 4xx) trực tiếp trên Grafana Explore.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150">
                <a:solidFill>
                  <a:srgbClr val="38BDF8"/>
                </a:solidFill>
              </a:rPr>
              <a:t>• Không cần SSH từng container:</a:t>
            </a:r>
            <a:r>
              <a:rPr sz="1100">
                <a:solidFill>
                  <a:srgbClr val="F8FAFC"/>
                </a:solidFill>
              </a:rPr>
              <a:t> Tiết kiệm 80% thời gian điều tra nguyên nhân gốc.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1508760"/>
            <a:ext cx="6522415" cy="4892040"/>
          </a:xfrm>
          <a:prstGeom prst="rect">
            <a:avLst/>
          </a:prstGeom>
          <a:solidFill>
            <a:srgbClr val="0A101E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hinh_6_1_truy_van_loki_logq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600200"/>
            <a:ext cx="6339535" cy="47091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08. KẾT LUẬN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FAFC"/>
                </a:solidFill>
              </a:defRPr>
            </a:pPr>
            <a:r>
              <a:t>KẾT QUẢ ĐẠT ĐƯỢC &amp; HƯỚNG PHÁT TRIỂN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8BDF8"/>
                </a:solidFill>
              </a:defRPr>
            </a:pPr>
            <a:r>
              <a:t>Khẳng định tính ổn định, độ an toàn và tiềm năng mở rộng của hệ thống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4389120" cy="4892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4023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2D3EE"/>
                </a:solidFill>
              </a:defRPr>
            </a:pPr>
            <a:r>
              <a:t>TRỌNG TÂM CỐT LÕI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4023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150">
                <a:solidFill>
                  <a:srgbClr val="38BDF8"/>
                </a:solidFill>
              </a:rPr>
              <a:t>• Đóng gói 100%:</a:t>
            </a:r>
            <a:r>
              <a:rPr sz="1100">
                <a:solidFill>
                  <a:srgbClr val="F8FAFC"/>
                </a:solidFill>
              </a:rPr>
              <a:t> 8 dịch vụ phối hợp nhịp nhàng, kiểm thử vận hành thành công.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150">
                <a:solidFill>
                  <a:srgbClr val="38BDF8"/>
                </a:solidFill>
              </a:rPr>
              <a:t>• An toàn CSDL:</a:t>
            </a:r>
            <a:r>
              <a:rPr sz="1100">
                <a:solidFill>
                  <a:srgbClr val="F8FAFC"/>
                </a:solidFill>
              </a:rPr>
              <a:t> Không rò rỉ cổng 5432, phân tầng mạng cô lập vững chắc.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150">
                <a:solidFill>
                  <a:srgbClr val="38BDF8"/>
                </a:solidFill>
              </a:rPr>
              <a:t>• Khả năng mở rộng:</a:t>
            </a:r>
            <a:r>
              <a:rPr sz="1100">
                <a:solidFill>
                  <a:srgbClr val="F8FAFC"/>
                </a:solidFill>
              </a:rPr>
              <a:t> Sẵn sàng cấu hình Load Balancing và triển khai Kubernetes.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150">
                <a:solidFill>
                  <a:srgbClr val="38BDF8"/>
                </a:solidFill>
              </a:rPr>
              <a:t>• Định hướng:</a:t>
            </a:r>
            <a:r>
              <a:rPr sz="1100">
                <a:solidFill>
                  <a:srgbClr val="F8FAFC"/>
                </a:solidFill>
              </a:rPr>
              <a:t> Tích hợp xác thực JWT/OAuth2 và thông báo tự động trả sách.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1508760"/>
            <a:ext cx="6522415" cy="4892040"/>
          </a:xfrm>
          <a:prstGeom prst="rect">
            <a:avLst/>
          </a:prstGeom>
          <a:solidFill>
            <a:srgbClr val="0A101E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lide_achieve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600200"/>
            <a:ext cx="6339535" cy="47091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